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33"/>
  </p:notesMasterIdLst>
  <p:sldIdLst>
    <p:sldId id="256" r:id="rId4"/>
    <p:sldId id="257" r:id="rId5"/>
    <p:sldId id="259" r:id="rId6"/>
    <p:sldId id="260" r:id="rId7"/>
    <p:sldId id="261" r:id="rId8"/>
    <p:sldId id="262" r:id="rId9"/>
    <p:sldId id="300" r:id="rId10"/>
    <p:sldId id="263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299" r:id="rId27"/>
    <p:sldId id="316" r:id="rId28"/>
    <p:sldId id="317" r:id="rId29"/>
    <p:sldId id="264" r:id="rId30"/>
    <p:sldId id="265" r:id="rId31"/>
    <p:sldId id="266" r:id="rId32"/>
  </p:sldIdLst>
  <p:sldSz cx="9144000" cy="5143500" type="screen16x9"/>
  <p:notesSz cx="6858000" cy="9144000"/>
  <p:embeddedFontLst>
    <p:embeddedFont>
      <p:font typeface="Roboto" panose="020B0604020202020204" charset="0"/>
      <p:regular r:id="rId34"/>
      <p:bold r:id="rId35"/>
      <p:italic r:id="rId36"/>
      <p:boldItalic r:id="rId37"/>
    </p:embeddedFont>
    <p:embeddedFont>
      <p:font typeface="Roboto Medium" panose="020B0604020202020204" charset="0"/>
      <p:regular r:id="rId38"/>
      <p:bold r:id="rId39"/>
      <p:italic r:id="rId40"/>
      <p:boldItalic r:id="rId41"/>
    </p:embeddedFont>
    <p:embeddedFont>
      <p:font typeface="Calibri" panose="020F050202020403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45678D-C4F9-4EE2-A1E8-EFC6F24DDD67}">
  <a:tblStyle styleId="{8045678D-C4F9-4EE2-A1E8-EFC6F24DDD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38" autoAdjust="0"/>
    <p:restoredTop sz="94664" autoAdjust="0"/>
  </p:normalViewPr>
  <p:slideViewPr>
    <p:cSldViewPr snapToGrid="0">
      <p:cViewPr varScale="1">
        <p:scale>
          <a:sx n="144" d="100"/>
          <a:sy n="144" d="100"/>
        </p:scale>
        <p:origin x="1236" y="120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6.fntdata"/><Relationship Id="rId21" Type="http://schemas.openxmlformats.org/officeDocument/2006/relationships/slide" Target="slides/slide18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3.fntdata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1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957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5128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7174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2637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60012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43875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4787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60117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44291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19025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88336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91946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725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25652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98041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2337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38598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22085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18517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{8045678D-C4F9-4EE2-A1E8-EFC6F24DDD67}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{8045678D-C4F9-4EE2-A1E8-EFC6F24DDD67}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20.222:7000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20.222:7000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1"/>
            <a:ext cx="940875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1071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ru-RU" sz="3200" dirty="0">
                <a:solidFill>
                  <a:schemeClr val="bg1"/>
                </a:solidFill>
              </a:rPr>
              <a:t>Создание отказоустойчивого кластера PostgreSQL в Docker</a:t>
            </a:r>
            <a:endParaRPr sz="3200" b="1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924150" y="4162057"/>
            <a:ext cx="2407800" cy="378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b="1" dirty="0">
                <a:solidFill>
                  <a:schemeClr val="bg1"/>
                </a:solidFill>
              </a:rPr>
              <a:t>PostgreSQL. Advanced</a:t>
            </a:r>
            <a:endParaRPr sz="100" dirty="0">
              <a:solidFill>
                <a:schemeClr val="bg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723879"/>
            <a:ext cx="7935300" cy="8001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 dirty="0">
                <a:solidFill>
                  <a:schemeClr val="dk1"/>
                </a:solidFill>
              </a:rPr>
              <a:t>Меня хорошо </a:t>
            </a:r>
            <a:r>
              <a:rPr lang="ru" sz="4000" dirty="0" smtClean="0">
                <a:solidFill>
                  <a:schemeClr val="dk1"/>
                </a:solidFill>
              </a:rPr>
              <a:t>слышно</a:t>
            </a:r>
            <a:r>
              <a:rPr lang="ru" sz="4000" dirty="0">
                <a:solidFill>
                  <a:schemeClr val="dk1"/>
                </a:solidFill>
              </a:rPr>
              <a:t>?</a:t>
            </a:r>
            <a:endParaRPr sz="4000" dirty="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752" y="3809325"/>
            <a:ext cx="600283" cy="545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 dirty="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3992701392"/>
              </p:ext>
            </p:extLst>
          </p:nvPr>
        </p:nvGraphicFramePr>
        <p:xfrm>
          <a:off x="952500" y="2382125"/>
          <a:ext cx="7239000" cy="2421486"/>
        </p:xfrm>
        <a:graphic>
          <a:graphicData uri="http://schemas.openxmlformats.org/drawingml/2006/table">
            <a:tbl>
              <a:tblPr>
                <a:noFill/>
                <a:tableStyleId>{8045678D-C4F9-4EE2-A1E8-EFC6F24DDD67}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400" b="0" strike="noStrike" spc="-1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Построить кластер postgresq+patroni+etcd</a:t>
                      </a:r>
                      <a:r>
                        <a:rPr lang="ru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400" b="0" strike="noStrike" spc="-1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Настроить Haproxy</a:t>
                      </a:r>
                      <a:endParaRPr lang="ru-RU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400" b="0" strike="noStrike" spc="-1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Настроить keepalived</a:t>
                      </a:r>
                      <a:endParaRPr lang="ru-RU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0" strike="noStrike" spc="-1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Все запустить внутри docker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strike="noStrike" spc="-1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* </a:t>
                      </a:r>
                      <a:r>
                        <a:rPr lang="ru-RU" sz="1400" b="0" strike="noStrike" spc="-1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Все запустить через </a:t>
                      </a:r>
                      <a:r>
                        <a:rPr lang="en-US" sz="1400" b="0" strike="noStrike" spc="-1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docker</a:t>
                      </a:r>
                      <a:r>
                        <a:rPr lang="en-US" sz="1400" b="0" strike="noStrike" spc="-1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 </a:t>
                      </a:r>
                      <a:r>
                        <a:rPr lang="en-US" sz="1400" b="0" strike="noStrike" spc="-1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compose</a:t>
                      </a:r>
                      <a:endParaRPr lang="en-US" sz="140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" sz="1500" spc="-1" dirty="0" smtClean="0">
                <a:solidFill>
                  <a:schemeClr val="dk1"/>
                </a:solidFill>
                <a:latin typeface="Roboto Medium"/>
                <a:ea typeface="Roboto Medium"/>
              </a:rPr>
              <a:t>Создание кластера postgresql </a:t>
            </a:r>
            <a:r>
              <a:rPr lang="ru" sz="1500" spc="-1" dirty="0">
                <a:solidFill>
                  <a:schemeClr val="dk1"/>
                </a:solidFill>
                <a:latin typeface="Roboto Medium"/>
                <a:ea typeface="Roboto Medium"/>
              </a:rPr>
              <a:t>в Docker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Какие технологии использовались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1404628193"/>
              </p:ext>
            </p:extLst>
          </p:nvPr>
        </p:nvGraphicFramePr>
        <p:xfrm>
          <a:off x="952500" y="1897775"/>
          <a:ext cx="7239000" cy="2548008"/>
        </p:xfrm>
        <a:graphic>
          <a:graphicData uri="http://schemas.openxmlformats.org/drawingml/2006/table">
            <a:tbl>
              <a:tblPr>
                <a:noFill/>
                <a:tableStyleId>{8045678D-C4F9-4EE2-A1E8-EFC6F24DDD67}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21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0" strike="noStrike" spc="-1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Postgresql</a:t>
                      </a:r>
                      <a:r>
                        <a:rPr lang="ru-RU" sz="160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 v</a:t>
                      </a:r>
                      <a:r>
                        <a:rPr lang="en-US" sz="160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.</a:t>
                      </a:r>
                      <a:r>
                        <a:rPr lang="ru-RU" sz="160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r>
                        <a:rPr lang="en-US" sz="160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  <a:endParaRPr lang="ru-RU" sz="1600" b="0" strike="noStrike" spc="-1" dirty="0" smtClean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2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  <a:r>
                        <a:rPr lang="ru-RU" sz="1600" b="0" strike="noStrike" spc="-1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atroni</a:t>
                      </a:r>
                      <a:r>
                        <a:rPr lang="en-US" sz="160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 v.4.1.0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1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0" strike="noStrike" spc="-1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Haproxy</a:t>
                      </a:r>
                      <a:r>
                        <a:rPr lang="en-US" sz="160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 v.2.8</a:t>
                      </a:r>
                      <a:endParaRPr lang="ru-RU" sz="1600" b="0" strike="noStrike" spc="-1" dirty="0" smtClean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11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Keepalived</a:t>
                      </a:r>
                      <a:r>
                        <a:rPr lang="en-US" sz="160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 v.2.0.20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 b="0" strike="noStrike" spc="-1" dirty="0" smtClean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Docker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695" y="0"/>
            <a:ext cx="2983230" cy="497332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00550" y="1426624"/>
            <a:ext cx="4572000" cy="215443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800" b="1" spc="-1" dirty="0"/>
              <a:t>Компоненты системы</a:t>
            </a:r>
            <a:r>
              <a:rPr lang="ru-RU" sz="1800" b="1" spc="-1" dirty="0" smtClean="0"/>
              <a:t>:</a:t>
            </a:r>
            <a:endParaRPr lang="en-US" sz="1800" b="1" spc="-1" dirty="0" smtClean="0"/>
          </a:p>
          <a:p>
            <a:endParaRPr lang="ru-RU" sz="1800" b="1" spc="-1" dirty="0"/>
          </a:p>
          <a:p>
            <a:r>
              <a:rPr lang="ru-RU" b="1" spc="-1" dirty="0" smtClean="0"/>
              <a:t>0.</a:t>
            </a:r>
            <a:r>
              <a:rPr lang="ru-RU" b="1" spc="-1" dirty="0"/>
              <a:t> </a:t>
            </a:r>
            <a:r>
              <a:rPr lang="ru-RU" b="1" spc="-1" dirty="0" smtClean="0"/>
              <a:t>Слой Клиента (приложение </a:t>
            </a:r>
            <a:r>
              <a:rPr lang="en-US" b="1" spc="-1" dirty="0" smtClean="0"/>
              <a:t>yii2</a:t>
            </a:r>
            <a:r>
              <a:rPr lang="ru-RU" b="1" spc="-1" dirty="0" smtClean="0"/>
              <a:t>)</a:t>
            </a:r>
            <a:endParaRPr lang="en-US" b="1" spc="-1" dirty="0" smtClean="0"/>
          </a:p>
          <a:p>
            <a:endParaRPr lang="en-US" b="1" spc="-1" dirty="0" smtClean="0"/>
          </a:p>
          <a:p>
            <a:r>
              <a:rPr lang="en-US" b="1" spc="-1" dirty="0" smtClean="0"/>
              <a:t>1. </a:t>
            </a:r>
            <a:r>
              <a:rPr lang="ru-RU" b="1" spc="-1" dirty="0" smtClean="0"/>
              <a:t>Слой балансировки (</a:t>
            </a:r>
            <a:r>
              <a:rPr lang="ru-RU" b="1" spc="-1" dirty="0"/>
              <a:t>Keepalived </a:t>
            </a:r>
            <a:r>
              <a:rPr lang="ru-RU" b="1" spc="-1" dirty="0" smtClean="0"/>
              <a:t>+ </a:t>
            </a:r>
            <a:r>
              <a:rPr lang="ru-RU" b="1" spc="-1" dirty="0" err="1" smtClean="0"/>
              <a:t>HAProxy</a:t>
            </a:r>
            <a:r>
              <a:rPr lang="ru-RU" b="1" spc="-1" dirty="0" smtClean="0"/>
              <a:t>)</a:t>
            </a:r>
            <a:endParaRPr lang="ru-RU" b="1" spc="-1" dirty="0"/>
          </a:p>
          <a:p>
            <a:endParaRPr lang="en-US" b="1" spc="-1" dirty="0" smtClean="0"/>
          </a:p>
          <a:p>
            <a:r>
              <a:rPr lang="ru-RU" b="1" spc="-1" dirty="0" smtClean="0"/>
              <a:t>2</a:t>
            </a:r>
            <a:r>
              <a:rPr lang="ru-RU" b="1" spc="-1" dirty="0"/>
              <a:t>. </a:t>
            </a:r>
            <a:r>
              <a:rPr lang="ru-RU" b="1" spc="-1" dirty="0" smtClean="0"/>
              <a:t>Слой </a:t>
            </a:r>
            <a:r>
              <a:rPr lang="ru-RU" b="1" spc="-1" dirty="0"/>
              <a:t>базы данных (PostgreSQL + </a:t>
            </a:r>
            <a:r>
              <a:rPr lang="ru-RU" b="1" spc="-1" dirty="0" err="1"/>
              <a:t>Patroni</a:t>
            </a:r>
            <a:r>
              <a:rPr lang="ru-RU" b="1" spc="-1" dirty="0"/>
              <a:t>)</a:t>
            </a:r>
          </a:p>
          <a:p>
            <a:endParaRPr lang="en-US" b="1" spc="-1" dirty="0" smtClean="0"/>
          </a:p>
          <a:p>
            <a:r>
              <a:rPr lang="ru-RU" b="1" spc="-1" dirty="0" smtClean="0"/>
              <a:t>3</a:t>
            </a:r>
            <a:r>
              <a:rPr lang="ru-RU" b="1" spc="-1" dirty="0"/>
              <a:t>. </a:t>
            </a:r>
            <a:r>
              <a:rPr lang="ru-RU" b="1" spc="-1" dirty="0" smtClean="0"/>
              <a:t>Слой координации </a:t>
            </a:r>
            <a:r>
              <a:rPr lang="ru-RU" b="1" spc="-1" dirty="0"/>
              <a:t>(</a:t>
            </a:r>
            <a:r>
              <a:rPr lang="ru-RU" b="1" spc="-1" dirty="0" err="1"/>
              <a:t>etcd</a:t>
            </a:r>
            <a:r>
              <a:rPr lang="ru-RU" b="1" spc="-1" dirty="0"/>
              <a:t>)</a:t>
            </a:r>
            <a:endParaRPr lang="ru-RU" spc="-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 smtClean="0"/>
              <a:t>Порядок запуска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3125446787"/>
              </p:ext>
            </p:extLst>
          </p:nvPr>
        </p:nvGraphicFramePr>
        <p:xfrm>
          <a:off x="395909" y="817252"/>
          <a:ext cx="7239000" cy="4108674"/>
        </p:xfrm>
        <a:graphic>
          <a:graphicData uri="http://schemas.openxmlformats.org/drawingml/2006/table">
            <a:tbl>
              <a:tblPr>
                <a:noFill/>
                <a:tableStyleId>{8045678D-C4F9-4EE2-A1E8-EFC6F24DDD67}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1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etcd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должен стартовать первым и набрать кворум (2 из 3 узлов). </a:t>
                      </a:r>
                      <a:r>
                        <a:rPr lang="ru-RU" sz="14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Patroni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при старте сразу подключается к </a:t>
                      </a:r>
                      <a:r>
                        <a:rPr lang="ru-RU" sz="14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etcd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чтобы зарегистрироваться и узнать кто лидер. Если </a:t>
                      </a:r>
                      <a:r>
                        <a:rPr lang="ru-RU" sz="14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etcd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ещё не готов — </a:t>
                      </a:r>
                      <a:r>
                        <a:rPr lang="ru-RU" sz="14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Patroni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упадёт с ошибкой подключения.</a:t>
                      </a:r>
                      <a:endParaRPr lang="en-US" sz="1400" b="0" i="0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1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docker</a:t>
                      </a:r>
                      <a:r>
                        <a:rPr lang="en-US" sz="1400" b="0" i="1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compose up -d etcd1 etcd2 etcd3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i="1" dirty="0" smtClean="0"/>
                        <a:t>sleep 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pg-node-1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запускается отдельно от pg-node-2 и pg-node-3 потому что он инициализирует кластер — создаёт директории данных, базы, пользователей 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логика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baseline="0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patroni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для запуска 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Primary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lang="en-US" sz="1400" b="0" i="0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i="1" dirty="0" err="1" smtClean="0"/>
                        <a:t>docker</a:t>
                      </a:r>
                      <a:r>
                        <a:rPr lang="en-US" i="1" dirty="0" smtClean="0"/>
                        <a:t> compose up -d pg-node-1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i="1" dirty="0" smtClean="0"/>
                        <a:t>sleep 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pg-node-2 и pg-node-3 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при старте идут к </a:t>
                      </a:r>
                      <a:r>
                        <a:rPr lang="ru-RU" sz="14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Primary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и копируют данные через </a:t>
                      </a:r>
                      <a:r>
                        <a:rPr lang="ru-RU" sz="14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pg_basebackup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логика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baseline="0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patroni</a:t>
                      </a:r>
                      <a:r>
                        <a:rPr lang="en-US" sz="14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для запуска новых реплик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 Если </a:t>
                      </a:r>
                      <a:r>
                        <a:rPr lang="ru-RU" sz="14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Primary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ещё не инициализирован — им нечего копировать.</a:t>
                      </a:r>
                      <a:endParaRPr lang="en-US" sz="1400" b="0" i="0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i="1" dirty="0" err="1" smtClean="0"/>
                        <a:t>docker</a:t>
                      </a:r>
                      <a:r>
                        <a:rPr lang="en-US" i="1" dirty="0" smtClean="0"/>
                        <a:t> compose up -d pg-node-2 pg-node-3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i="1" dirty="0" err="1" smtClean="0"/>
                        <a:t>docker</a:t>
                      </a:r>
                      <a:r>
                        <a:rPr lang="en-US" i="1" dirty="0" smtClean="0"/>
                        <a:t> compose up -d haproxy-1 haproxy-2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i="1" dirty="0" err="1" smtClean="0"/>
                        <a:t>docker</a:t>
                      </a:r>
                      <a:r>
                        <a:rPr lang="en-US" i="1" dirty="0" smtClean="0"/>
                        <a:t> compose up -d </a:t>
                      </a:r>
                      <a:r>
                        <a:rPr lang="en-US" i="1" dirty="0" err="1" smtClean="0"/>
                        <a:t>keepalived</a:t>
                      </a:r>
                      <a:r>
                        <a:rPr lang="en-US" i="1" dirty="0" smtClean="0"/>
                        <a:t>-master </a:t>
                      </a:r>
                      <a:r>
                        <a:rPr lang="en-US" i="1" dirty="0" err="1" smtClean="0"/>
                        <a:t>keepalived</a:t>
                      </a:r>
                      <a:r>
                        <a:rPr lang="en-US" i="1" dirty="0" smtClean="0"/>
                        <a:t>-backup</a:t>
                      </a:r>
                      <a:endParaRPr lang="ru-RU" sz="1400" b="0" i="1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1174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000" dirty="0" err="1" smtClean="0"/>
              <a:t>Etcd</a:t>
            </a:r>
            <a:r>
              <a:rPr lang="en-US" sz="3000" dirty="0" smtClean="0"/>
              <a:t> (1) </a:t>
            </a:r>
            <a:r>
              <a:rPr lang="en-US" sz="3000" dirty="0"/>
              <a:t>(</a:t>
            </a:r>
            <a:r>
              <a:rPr lang="ru-RU" sz="3000" dirty="0"/>
              <a:t>ошибка образа</a:t>
            </a:r>
            <a:r>
              <a:rPr lang="en-US" sz="3000" dirty="0"/>
              <a:t>)</a:t>
            </a: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160529159"/>
              </p:ext>
            </p:extLst>
          </p:nvPr>
        </p:nvGraphicFramePr>
        <p:xfrm>
          <a:off x="952500" y="1698521"/>
          <a:ext cx="7239000" cy="1584840"/>
        </p:xfrm>
        <a:graphic>
          <a:graphicData uri="http://schemas.openxmlformats.org/drawingml/2006/table">
            <a:tbl>
              <a:tblPr>
                <a:noFill/>
                <a:tableStyleId>{8045678D-C4F9-4EE2-A1E8-EFC6F24DDD67}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581371" y="1152042"/>
            <a:ext cx="6713952" cy="513145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500550" y="1648146"/>
            <a:ext cx="8328607" cy="1307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Использование неправильного образа для сборки </a:t>
            </a:r>
            <a:r>
              <a:rPr lang="en-US" dirty="0" err="1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etcd</a:t>
            </a:r>
            <a:r>
              <a:rPr lang="en-US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/>
              <a:t>bitnami</a:t>
            </a:r>
            <a:r>
              <a:rPr lang="en-US" dirty="0"/>
              <a:t>/</a:t>
            </a:r>
            <a:r>
              <a:rPr lang="en-US" dirty="0" err="1"/>
              <a:t>etcd</a:t>
            </a:r>
            <a:r>
              <a:rPr lang="en-US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 smtClean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 err="1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Bitnami</a:t>
            </a:r>
            <a:r>
              <a:rPr lang="ru-RU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полностью 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убрали </a:t>
            </a:r>
            <a:r>
              <a:rPr lang="ru-RU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etcd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с Docker </a:t>
            </a:r>
            <a:r>
              <a:rPr lang="ru-RU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Hub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dirty="0" smtClean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Переходим на</a:t>
            </a:r>
            <a:r>
              <a:rPr lang="en-US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образ quay.io/</a:t>
            </a:r>
            <a:r>
              <a:rPr lang="ru-RU" dirty="0" err="1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coreos</a:t>
            </a:r>
            <a:r>
              <a:rPr lang="ru-RU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err="1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etcd</a:t>
            </a:r>
            <a:r>
              <a:rPr lang="ru-RU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Проверим что </a:t>
            </a:r>
            <a:r>
              <a:rPr lang="ru-RU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доступно:</a:t>
            </a:r>
            <a:endParaRPr lang="ru-RU" dirty="0" smtClean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i="1" dirty="0" err="1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docker</a:t>
            </a:r>
            <a:r>
              <a:rPr lang="en-US" i="1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 pull quay.io/</a:t>
            </a:r>
            <a:r>
              <a:rPr lang="en-US" i="1" dirty="0" err="1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coreos</a:t>
            </a:r>
            <a:r>
              <a:rPr lang="en-US" i="1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/etcd:v3.5.17</a:t>
            </a:r>
            <a:endParaRPr lang="ru-RU" i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1" name="Рисунок 10"/>
          <p:cNvPicPr/>
          <p:nvPr/>
        </p:nvPicPr>
        <p:blipFill>
          <a:blip r:embed="rId4"/>
          <a:stretch>
            <a:fillRect/>
          </a:stretch>
        </p:blipFill>
        <p:spPr>
          <a:xfrm>
            <a:off x="581371" y="2716696"/>
            <a:ext cx="4699620" cy="23089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 smtClean="0"/>
              <a:t>Etcd</a:t>
            </a:r>
            <a:r>
              <a:rPr lang="en-US" sz="3000" dirty="0" smtClean="0"/>
              <a:t> (2)</a:t>
            </a:r>
            <a:endParaRPr sz="3000" dirty="0"/>
          </a:p>
        </p:txBody>
      </p:sp>
      <p:graphicFrame>
        <p:nvGraphicFramePr>
          <p:cNvPr id="213" name="Google Shape;213;p42"/>
          <p:cNvGraphicFramePr/>
          <p:nvPr/>
        </p:nvGraphicFramePr>
        <p:xfrm>
          <a:off x="952500" y="1698521"/>
          <a:ext cx="7239000" cy="1584840"/>
        </p:xfrm>
        <a:graphic>
          <a:graphicData uri="http://schemas.openxmlformats.org/drawingml/2006/table">
            <a:tbl>
              <a:tblPr>
                <a:noFill/>
                <a:tableStyleId>{8045678D-C4F9-4EE2-A1E8-EFC6F24DDD67}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581371" y="1070792"/>
            <a:ext cx="5940425" cy="157353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00549" y="2644322"/>
            <a:ext cx="83784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+mj-lt"/>
                <a:ea typeface="Calibri" panose="020F0502020204030204" pitchFamily="34" charset="0"/>
              </a:rPr>
              <a:t>Все три </a:t>
            </a:r>
            <a:r>
              <a:rPr lang="ru-RU" dirty="0" err="1">
                <a:latin typeface="+mj-lt"/>
                <a:ea typeface="Calibri" panose="020F0502020204030204" pitchFamily="34" charset="0"/>
              </a:rPr>
              <a:t>etcd</a:t>
            </a:r>
            <a:r>
              <a:rPr lang="ru-RU" dirty="0">
                <a:latin typeface="+mj-lt"/>
                <a:ea typeface="Calibri" panose="020F0502020204030204" pitchFamily="34" charset="0"/>
              </a:rPr>
              <a:t> контейнера запустились, сеть и </a:t>
            </a:r>
            <a:r>
              <a:rPr lang="ru-RU" dirty="0" err="1" smtClean="0">
                <a:latin typeface="+mj-lt"/>
                <a:ea typeface="Calibri" panose="020F0502020204030204" pitchFamily="34" charset="0"/>
              </a:rPr>
              <a:t>volumes</a:t>
            </a:r>
            <a:r>
              <a:rPr lang="ru-RU" dirty="0" smtClean="0">
                <a:latin typeface="+mj-lt"/>
                <a:ea typeface="Calibri" panose="020F0502020204030204" pitchFamily="34" charset="0"/>
              </a:rPr>
              <a:t> созданы</a:t>
            </a:r>
            <a:r>
              <a:rPr lang="ru-RU" dirty="0">
                <a:latin typeface="+mj-lt"/>
                <a:ea typeface="Calibri" panose="020F0502020204030204" pitchFamily="34" charset="0"/>
              </a:rPr>
              <a:t>. Проверяем что кластер </a:t>
            </a:r>
            <a:r>
              <a:rPr lang="ru-RU" dirty="0" err="1">
                <a:latin typeface="+mj-lt"/>
                <a:ea typeface="Calibri" panose="020F0502020204030204" pitchFamily="34" charset="0"/>
              </a:rPr>
              <a:t>etcd</a:t>
            </a:r>
            <a:r>
              <a:rPr lang="ru-RU" dirty="0">
                <a:latin typeface="+mj-lt"/>
                <a:ea typeface="Calibri" panose="020F0502020204030204" pitchFamily="34" charset="0"/>
              </a:rPr>
              <a:t> набрал кворум</a:t>
            </a:r>
            <a:endParaRPr lang="ru-RU" dirty="0">
              <a:latin typeface="+mj-lt"/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4"/>
          <a:stretch>
            <a:fillRect/>
          </a:stretch>
        </p:blipFill>
        <p:spPr>
          <a:xfrm>
            <a:off x="581370" y="3226497"/>
            <a:ext cx="5940425" cy="100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84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000" dirty="0" smtClean="0"/>
              <a:t>PG-node-1 </a:t>
            </a:r>
            <a:r>
              <a:rPr lang="ru-RU" sz="3000" dirty="0"/>
              <a:t>(1) </a:t>
            </a:r>
            <a:r>
              <a:rPr lang="en-US" sz="3000" dirty="0" smtClean="0"/>
              <a:t>(</a:t>
            </a:r>
            <a:r>
              <a:rPr lang="ru-RU" sz="3000" dirty="0" smtClean="0"/>
              <a:t>ошибка прав</a:t>
            </a:r>
            <a:r>
              <a:rPr lang="en-US" sz="3000" dirty="0" smtClean="0"/>
              <a:t>)</a:t>
            </a: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809550258"/>
              </p:ext>
            </p:extLst>
          </p:nvPr>
        </p:nvGraphicFramePr>
        <p:xfrm>
          <a:off x="-67920" y="1279932"/>
          <a:ext cx="9089069" cy="1798200"/>
        </p:xfrm>
        <a:graphic>
          <a:graphicData uri="http://schemas.openxmlformats.org/drawingml/2006/table">
            <a:tbl>
              <a:tblPr>
                <a:noFill/>
                <a:tableStyleId>{8045678D-C4F9-4EE2-A1E8-EFC6F24DDD67}</a:tableStyleId>
              </a:tblPr>
              <a:tblGrid>
                <a:gridCol w="614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Пустой ответ — </a:t>
                      </a:r>
                      <a:r>
                        <a:rPr lang="ru-RU" sz="14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Patroni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ещё не поднялся или упал. Смотрим </a:t>
                      </a:r>
                      <a:r>
                        <a:rPr lang="ru-RU" sz="14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логи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</a:p>
                    <a:p>
                      <a:r>
                        <a:rPr lang="en-US" sz="1400" b="0" i="1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docker</a:t>
                      </a:r>
                      <a:r>
                        <a:rPr lang="en-US" sz="1400" b="0" i="1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logs pg-node-1 --tail 3</a:t>
                      </a:r>
                      <a:r>
                        <a:rPr lang="ru-RU" sz="1400" b="0" i="1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ru-RU" i="1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581369" y="937767"/>
            <a:ext cx="5940425" cy="283210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 rotWithShape="1">
          <a:blip r:embed="rId4"/>
          <a:srcRect b="28657"/>
          <a:stretch/>
        </p:blipFill>
        <p:spPr>
          <a:xfrm>
            <a:off x="581369" y="1947103"/>
            <a:ext cx="5940425" cy="287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43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000" dirty="0" smtClean="0"/>
              <a:t>PG-node-1 </a:t>
            </a:r>
            <a:r>
              <a:rPr lang="ru-RU" sz="3000" dirty="0" smtClean="0"/>
              <a:t>(2)</a:t>
            </a:r>
            <a:r>
              <a:rPr lang="en-US" sz="3000" dirty="0" smtClean="0"/>
              <a:t> </a:t>
            </a:r>
            <a:r>
              <a:rPr lang="en-US" sz="3000" dirty="0"/>
              <a:t>(</a:t>
            </a:r>
            <a:r>
              <a:rPr lang="ru-RU" sz="3000" dirty="0"/>
              <a:t>ошибка прав</a:t>
            </a:r>
            <a:r>
              <a:rPr lang="en-US" sz="3000" dirty="0"/>
              <a:t>)</a:t>
            </a: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723876934"/>
              </p:ext>
            </p:extLst>
          </p:nvPr>
        </p:nvGraphicFramePr>
        <p:xfrm>
          <a:off x="-187190" y="895619"/>
          <a:ext cx="9089069" cy="1584840"/>
        </p:xfrm>
        <a:graphic>
          <a:graphicData uri="http://schemas.openxmlformats.org/drawingml/2006/table">
            <a:tbl>
              <a:tblPr>
                <a:noFill/>
                <a:tableStyleId>{8045678D-C4F9-4EE2-A1E8-EFC6F24DDD67}</a:tableStyleId>
              </a:tblPr>
              <a:tblGrid>
                <a:gridCol w="614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endParaRPr lang="ru-RU" i="1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docker</a:t>
                      </a:r>
                      <a:r>
                        <a:rPr lang="en-US" sz="1400" b="0" i="1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logs pg-node-1 2&gt;&amp;1 | </a:t>
                      </a:r>
                      <a:r>
                        <a:rPr lang="en-US" sz="1400" b="0" i="1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grep</a:t>
                      </a:r>
                      <a:r>
                        <a:rPr lang="en-US" sz="1400" b="0" i="1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-E "</a:t>
                      </a:r>
                      <a:r>
                        <a:rPr lang="en-US" sz="1400" b="0" i="1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ERROR|FATAL|WARN|error|fatal</a:t>
                      </a:r>
                      <a:r>
                        <a:rPr lang="en-US" sz="1400" b="0" i="1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" | head -20</a:t>
                      </a:r>
                      <a:endParaRPr lang="ru-RU" i="1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594622" y="1276816"/>
            <a:ext cx="5940425" cy="2407285"/>
          </a:xfrm>
          <a:prstGeom prst="rect">
            <a:avLst/>
          </a:prstGeom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00551" y="3651091"/>
            <a:ext cx="852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Courier New" panose="02070309020205020404" pitchFamily="49" charset="0"/>
              </a:rPr>
              <a:t>initdb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не может запускаться от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root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а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Patroni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внутри контейнера запускается именно от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root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Нужно добавить в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Dockerfile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запуск от пользователя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Courier New" panose="02070309020205020404" pitchFamily="49" charset="0"/>
              </a:rPr>
              <a:t>postgres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27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smtClean="0"/>
              <a:t>PG-node-1 (3)</a:t>
            </a: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3950336951"/>
              </p:ext>
            </p:extLst>
          </p:nvPr>
        </p:nvGraphicFramePr>
        <p:xfrm>
          <a:off x="-187190" y="895619"/>
          <a:ext cx="9089069" cy="1584840"/>
        </p:xfrm>
        <a:graphic>
          <a:graphicData uri="http://schemas.openxmlformats.org/drawingml/2006/table">
            <a:tbl>
              <a:tblPr>
                <a:noFill/>
                <a:tableStyleId>{8045678D-C4F9-4EE2-A1E8-EFC6F24DDD67}</a:tableStyleId>
              </a:tblPr>
              <a:tblGrid>
                <a:gridCol w="614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endParaRPr lang="ru-RU" i="1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docker</a:t>
                      </a:r>
                      <a:r>
                        <a:rPr lang="en-US" sz="1400" b="0" i="1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compose up -d pg-node-1</a:t>
                      </a:r>
                      <a:endParaRPr lang="ru-RU" i="1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589040" y="961424"/>
            <a:ext cx="5066693" cy="1132657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589040" y="2275003"/>
            <a:ext cx="8158413" cy="277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000" dirty="0" smtClean="0"/>
              <a:t>PG-node-</a:t>
            </a:r>
            <a:r>
              <a:rPr lang="ru-RU" sz="3000" dirty="0" smtClean="0"/>
              <a:t>2 </a:t>
            </a:r>
            <a:r>
              <a:rPr lang="en-US" sz="3000" dirty="0" smtClean="0"/>
              <a:t>PG-node-</a:t>
            </a:r>
            <a:r>
              <a:rPr lang="ru-RU" sz="3000" dirty="0" smtClean="0"/>
              <a:t>3</a:t>
            </a:r>
            <a:r>
              <a:rPr lang="en-US" sz="3000" dirty="0" smtClean="0"/>
              <a:t> (1)</a:t>
            </a:r>
            <a:endParaRPr sz="3000" dirty="0"/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589040" y="952684"/>
            <a:ext cx="5940425" cy="1551305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500550" y="2566875"/>
            <a:ext cx="50529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+mj-lt"/>
                <a:ea typeface="Times New Roman" panose="02020603050405020304" pitchFamily="18" charset="0"/>
              </a:rPr>
              <a:t>Запущены. Ждём 20 секунд и проверяем статус кластера:</a:t>
            </a:r>
            <a:endParaRPr lang="ru-RU" dirty="0">
              <a:latin typeface="+mj-lt"/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4"/>
          <a:stretch>
            <a:fillRect/>
          </a:stretch>
        </p:blipFill>
        <p:spPr>
          <a:xfrm>
            <a:off x="589039" y="2937538"/>
            <a:ext cx="8372450" cy="130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33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000" dirty="0" err="1" smtClean="0"/>
              <a:t>HAProxy</a:t>
            </a:r>
            <a:r>
              <a:rPr lang="en-US" sz="3000" dirty="0" smtClean="0"/>
              <a:t> (1)</a:t>
            </a:r>
            <a:endParaRPr sz="30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00550" y="2837808"/>
            <a:ext cx="74382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/>
              <a:t>HAProxy</a:t>
            </a:r>
            <a:r>
              <a:rPr lang="ru-RU" dirty="0"/>
              <a:t> запущен. Проверяем что он видит узлы </a:t>
            </a:r>
            <a:r>
              <a:rPr lang="ru-RU" dirty="0" smtClean="0"/>
              <a:t>правильно</a:t>
            </a:r>
            <a:r>
              <a:rPr lang="ru-RU" dirty="0" smtClean="0">
                <a:latin typeface="+mj-lt"/>
                <a:ea typeface="Times New Roman" panose="02020603050405020304" pitchFamily="18" charset="0"/>
              </a:rPr>
              <a:t>:</a:t>
            </a:r>
            <a:r>
              <a:rPr lang="en-US" dirty="0" smtClean="0">
                <a:latin typeface="+mj-lt"/>
                <a:ea typeface="Times New Roman" panose="02020603050405020304" pitchFamily="18" charset="0"/>
              </a:rPr>
              <a:t> </a:t>
            </a:r>
            <a:r>
              <a:rPr lang="ru-RU" u="sng" dirty="0">
                <a:hlinkClick r:id="rId3"/>
              </a:rPr>
              <a:t>http://192.168.20.222:7000</a:t>
            </a:r>
            <a:endParaRPr lang="ru-RU" dirty="0"/>
          </a:p>
          <a:p>
            <a:endParaRPr lang="ru-RU" dirty="0">
              <a:latin typeface="+mj-lt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4"/>
          <a:stretch>
            <a:fillRect/>
          </a:stretch>
        </p:blipFill>
        <p:spPr>
          <a:xfrm>
            <a:off x="589039" y="927947"/>
            <a:ext cx="5940425" cy="1851660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5"/>
          <a:stretch>
            <a:fillRect/>
          </a:stretch>
        </p:blipFill>
        <p:spPr>
          <a:xfrm>
            <a:off x="589038" y="3162405"/>
            <a:ext cx="5940425" cy="183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964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000" dirty="0" err="1" smtClean="0"/>
              <a:t>HAProxy</a:t>
            </a:r>
            <a:r>
              <a:rPr lang="en-US" sz="3000" dirty="0" smtClean="0"/>
              <a:t> (2)</a:t>
            </a:r>
            <a:endParaRPr sz="30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00550" y="907408"/>
            <a:ext cx="74382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/>
              <a:t>HAProxy</a:t>
            </a:r>
            <a:r>
              <a:rPr lang="ru-RU" dirty="0"/>
              <a:t> запущен. Проверяем что он видит узлы </a:t>
            </a:r>
            <a:r>
              <a:rPr lang="ru-RU" dirty="0" smtClean="0"/>
              <a:t>правильно</a:t>
            </a:r>
            <a:r>
              <a:rPr lang="ru-RU" dirty="0" smtClean="0">
                <a:latin typeface="+mj-lt"/>
                <a:ea typeface="Times New Roman" panose="02020603050405020304" pitchFamily="18" charset="0"/>
              </a:rPr>
              <a:t>:</a:t>
            </a:r>
            <a:r>
              <a:rPr lang="en-US" dirty="0" smtClean="0">
                <a:latin typeface="+mj-lt"/>
                <a:ea typeface="Times New Roman" panose="02020603050405020304" pitchFamily="18" charset="0"/>
              </a:rPr>
              <a:t> </a:t>
            </a:r>
            <a:r>
              <a:rPr lang="ru-RU" u="sng" dirty="0">
                <a:hlinkClick r:id="rId3"/>
              </a:rPr>
              <a:t>http://192.168.20.222:7000</a:t>
            </a:r>
            <a:endParaRPr lang="ru-RU" dirty="0"/>
          </a:p>
          <a:p>
            <a:endParaRPr lang="ru-RU" dirty="0">
              <a:latin typeface="+mj-lt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555172" y="1259099"/>
            <a:ext cx="5940425" cy="183959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00550" y="3098694"/>
            <a:ext cx="73524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postgres_write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порт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5000 — 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только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Primary):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pg-node-1 — </a:t>
            </a:r>
            <a:r>
              <a:rPr lang="en-US" b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зелёный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) L7OK/200 — 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это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Primary, 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отвечает на 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/master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pg-node-2 — </a:t>
            </a:r>
            <a:r>
              <a:rPr lang="ru-RU" b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DOWN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(красный) L7STS/503 — это </a:t>
            </a:r>
            <a:r>
              <a:rPr lang="ru-RU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Replica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, правильно отклоняется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pg-node-3 — </a:t>
            </a:r>
            <a:r>
              <a:rPr lang="ru-RU" b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DOWN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(красный) L7STS/503 — это </a:t>
            </a:r>
            <a:r>
              <a:rPr lang="ru-RU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Replica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, правильно отклоняется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postgres_read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порт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5001 — 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только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Replica):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pg-node-1 — </a:t>
            </a:r>
            <a:r>
              <a:rPr lang="ru-RU" b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DOWN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(красный) L7STS/503 — это </a:t>
            </a:r>
            <a:r>
              <a:rPr lang="ru-RU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, правильно отклоняется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pg-node-2 — </a:t>
            </a:r>
            <a:r>
              <a:rPr lang="en-US" b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зелёный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) L7OK/200 — Replica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  <a:ea typeface="Times New Roman" panose="02020603050405020304" pitchFamily="18" charset="0"/>
              </a:rPr>
              <a:t> pg-node-3 </a:t>
            </a:r>
            <a:r>
              <a:rPr lang="en-US" dirty="0">
                <a:latin typeface="+mj-lt"/>
                <a:ea typeface="Times New Roman" panose="02020603050405020304" pitchFamily="18" charset="0"/>
              </a:rPr>
              <a:t>— </a:t>
            </a:r>
            <a:r>
              <a:rPr lang="en-US" b="1" dirty="0">
                <a:latin typeface="+mj-lt"/>
                <a:ea typeface="Times New Roman" panose="02020603050405020304" pitchFamily="18" charset="0"/>
              </a:rPr>
              <a:t>UP</a:t>
            </a:r>
            <a:r>
              <a:rPr lang="en-US" dirty="0">
                <a:latin typeface="+mj-lt"/>
                <a:ea typeface="Times New Roman" panose="02020603050405020304" pitchFamily="18" charset="0"/>
              </a:rPr>
              <a:t> (</a:t>
            </a:r>
            <a:r>
              <a:rPr lang="ru-RU" dirty="0">
                <a:latin typeface="+mj-lt"/>
                <a:ea typeface="Times New Roman" panose="02020603050405020304" pitchFamily="18" charset="0"/>
              </a:rPr>
              <a:t>зелёный</a:t>
            </a:r>
            <a:r>
              <a:rPr lang="en-US" dirty="0">
                <a:latin typeface="+mj-lt"/>
                <a:ea typeface="Times New Roman" panose="02020603050405020304" pitchFamily="18" charset="0"/>
              </a:rPr>
              <a:t>) L7OK/200 — Replica</a:t>
            </a:r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2535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dirty="0"/>
              <a:t>Keepalived</a:t>
            </a:r>
            <a:r>
              <a:rPr lang="en-US" sz="3000" dirty="0" smtClean="0"/>
              <a:t> </a:t>
            </a:r>
            <a:r>
              <a:rPr lang="ru-RU" sz="3000" dirty="0" smtClean="0"/>
              <a:t>(1)</a:t>
            </a:r>
            <a:r>
              <a:rPr lang="en-US" sz="3000" dirty="0" smtClean="0"/>
              <a:t> </a:t>
            </a:r>
            <a:r>
              <a:rPr lang="en-US" sz="3000" dirty="0"/>
              <a:t>(</a:t>
            </a:r>
            <a:r>
              <a:rPr lang="ru-RU" sz="3000" dirty="0"/>
              <a:t>ошибка запуска) </a:t>
            </a:r>
            <a:endParaRPr sz="3000" dirty="0"/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599334" y="939137"/>
            <a:ext cx="5940425" cy="178879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87679" y="2813125"/>
            <a:ext cx="77486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+mj-lt"/>
                <a:ea typeface="Times New Roman" panose="02020603050405020304" pitchFamily="18" charset="0"/>
              </a:rPr>
              <a:t>Все 10 контейнеров </a:t>
            </a:r>
            <a:r>
              <a:rPr lang="ru-RU" dirty="0" smtClean="0">
                <a:latin typeface="+mj-lt"/>
                <a:ea typeface="Times New Roman" panose="02020603050405020304" pitchFamily="18" charset="0"/>
              </a:rPr>
              <a:t>запущены</a:t>
            </a:r>
            <a:r>
              <a:rPr lang="en-US" dirty="0" smtClean="0">
                <a:latin typeface="+mj-lt"/>
                <a:ea typeface="Times New Roman" panose="02020603050405020304" pitchFamily="18" charset="0"/>
              </a:rPr>
              <a:t>.</a:t>
            </a:r>
            <a:r>
              <a:rPr lang="ru-RU" dirty="0" smtClean="0">
                <a:latin typeface="+mj-lt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+mj-lt"/>
                <a:ea typeface="Times New Roman" panose="02020603050405020304" pitchFamily="18" charset="0"/>
              </a:rPr>
              <a:t>Проверяем что VIP поднялся на интерфейсе:</a:t>
            </a:r>
            <a:endParaRPr lang="ru-RU" dirty="0">
              <a:latin typeface="+mj-lt"/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4"/>
          <a:stretch>
            <a:fillRect/>
          </a:stretch>
        </p:blipFill>
        <p:spPr>
          <a:xfrm>
            <a:off x="599334" y="3206095"/>
            <a:ext cx="5886450" cy="42862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599334" y="3677552"/>
            <a:ext cx="3776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+mj-lt"/>
                <a:ea typeface="Times New Roman" panose="02020603050405020304" pitchFamily="18" charset="0"/>
              </a:rPr>
              <a:t>VIP не поднялся. Смотрим </a:t>
            </a:r>
            <a:r>
              <a:rPr lang="ru-RU" dirty="0" err="1">
                <a:latin typeface="+mj-lt"/>
                <a:ea typeface="Times New Roman" panose="02020603050405020304" pitchFamily="18" charset="0"/>
              </a:rPr>
              <a:t>логи</a:t>
            </a:r>
            <a:r>
              <a:rPr lang="ru-RU" dirty="0">
                <a:latin typeface="+mj-lt"/>
                <a:ea typeface="Times New Roman" panose="02020603050405020304" pitchFamily="18" charset="0"/>
              </a:rPr>
              <a:t> Keepalived</a:t>
            </a:r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1238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dirty="0"/>
              <a:t>Keepalived</a:t>
            </a:r>
            <a:r>
              <a:rPr lang="en-US" sz="3000" dirty="0" smtClean="0"/>
              <a:t> </a:t>
            </a:r>
            <a:r>
              <a:rPr lang="ru-RU" sz="3000" dirty="0" smtClean="0"/>
              <a:t>(2)</a:t>
            </a:r>
            <a:r>
              <a:rPr lang="en-US" sz="3000" dirty="0" smtClean="0"/>
              <a:t> </a:t>
            </a:r>
            <a:r>
              <a:rPr lang="en-US" sz="3000" dirty="0"/>
              <a:t>(</a:t>
            </a:r>
            <a:r>
              <a:rPr lang="ru-RU" sz="3000" dirty="0"/>
              <a:t>ошибка запуска) </a:t>
            </a:r>
            <a:endParaRPr sz="3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00550" y="3206095"/>
            <a:ext cx="32335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+mj-lt"/>
                <a:ea typeface="Times New Roman" panose="02020603050405020304" pitchFamily="18" charset="0"/>
              </a:rPr>
              <a:t>Ошибка в указании интерфейса и </a:t>
            </a:r>
            <a:r>
              <a:rPr lang="en-US" dirty="0" smtClean="0">
                <a:latin typeface="+mj-lt"/>
                <a:ea typeface="Times New Roman" panose="02020603050405020304" pitchFamily="18" charset="0"/>
              </a:rPr>
              <a:t>IP</a:t>
            </a:r>
            <a:endParaRPr lang="ru-RU" dirty="0">
              <a:latin typeface="+mj-lt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572346" y="927080"/>
            <a:ext cx="5940425" cy="227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823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dirty="0" smtClean="0"/>
              <a:t>Keepalived</a:t>
            </a:r>
            <a:r>
              <a:rPr lang="en-US" sz="3000" dirty="0"/>
              <a:t> </a:t>
            </a:r>
            <a:r>
              <a:rPr lang="en-US" sz="3000" dirty="0" smtClean="0"/>
              <a:t>(3)</a:t>
            </a:r>
            <a:endParaRPr sz="3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00550" y="3206095"/>
            <a:ext cx="32335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+mj-lt"/>
                <a:ea typeface="Times New Roman" panose="02020603050405020304" pitchFamily="18" charset="0"/>
              </a:rPr>
              <a:t>Ошибка в указании интерфейса и </a:t>
            </a:r>
            <a:r>
              <a:rPr lang="en-US" dirty="0" smtClean="0">
                <a:latin typeface="+mj-lt"/>
                <a:ea typeface="Times New Roman" panose="02020603050405020304" pitchFamily="18" charset="0"/>
              </a:rPr>
              <a:t>IP</a:t>
            </a:r>
            <a:endParaRPr lang="ru-RU" dirty="0">
              <a:latin typeface="+mj-lt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585787" y="930592"/>
            <a:ext cx="5940425" cy="2672715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585787" y="3654852"/>
            <a:ext cx="777928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Keepalived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работает</a:t>
            </a:r>
            <a:r>
              <a:rPr lang="en-US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Видно: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Entering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MASTER STATE — стал мастером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setting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VIPs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— поднял виртуальный IP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Sending gratuitous ARP on ens18 for 192.168.20.10 — 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объявил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VIP 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в сети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+mj-lt"/>
                <a:ea typeface="Times New Roman" panose="02020603050405020304" pitchFamily="18" charset="0"/>
              </a:rPr>
              <a:t>Проверяем что VIP реально появился на интерфейсе:</a:t>
            </a:r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7666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dirty="0" smtClean="0"/>
              <a:t>Keepalived</a:t>
            </a:r>
            <a:r>
              <a:rPr lang="en-US" sz="3000" dirty="0"/>
              <a:t> </a:t>
            </a:r>
            <a:r>
              <a:rPr lang="en-US" sz="3000" dirty="0" smtClean="0"/>
              <a:t>(4)</a:t>
            </a:r>
            <a:endParaRPr sz="30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00550" y="2760987"/>
            <a:ext cx="77792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 err="1"/>
              <a:t>inet_server_addr</a:t>
            </a:r>
            <a:r>
              <a:rPr lang="en-US" dirty="0"/>
              <a:t> = 172.20.0.13 — </a:t>
            </a:r>
            <a:r>
              <a:rPr lang="ru-RU" dirty="0"/>
              <a:t>подключились к</a:t>
            </a:r>
            <a:r>
              <a:rPr lang="en-US" dirty="0"/>
              <a:t> pg-node-3</a:t>
            </a:r>
            <a:endParaRPr lang="ru-RU" dirty="0"/>
          </a:p>
          <a:p>
            <a:pPr lvl="0"/>
            <a:r>
              <a:rPr lang="ru-RU" dirty="0" err="1"/>
              <a:t>pg_is_in_recovery</a:t>
            </a:r>
            <a:r>
              <a:rPr lang="ru-RU" dirty="0"/>
              <a:t> = t — это </a:t>
            </a:r>
            <a:r>
              <a:rPr lang="ru-RU" dirty="0" err="1"/>
              <a:t>Replica</a:t>
            </a:r>
            <a:r>
              <a:rPr lang="ru-RU" dirty="0"/>
              <a:t> (t = </a:t>
            </a:r>
            <a:r>
              <a:rPr lang="ru-RU" dirty="0" err="1"/>
              <a:t>true</a:t>
            </a:r>
            <a:r>
              <a:rPr lang="ru-RU" dirty="0"/>
              <a:t> = в режиме восстановления/репликации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585787" y="946767"/>
            <a:ext cx="5940425" cy="42926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00550" y="1427212"/>
            <a:ext cx="49712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+mj-lt"/>
                <a:ea typeface="Calibri" panose="020F0502020204030204" pitchFamily="34" charset="0"/>
              </a:rPr>
              <a:t>Теперь проверяем подключение к PostgreSQL через VIP:</a:t>
            </a:r>
            <a:endParaRPr lang="ru-RU" dirty="0">
              <a:latin typeface="+mj-lt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585786" y="1741563"/>
            <a:ext cx="8363754" cy="915498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>
          <a:xfrm>
            <a:off x="585787" y="3407469"/>
            <a:ext cx="8408916" cy="78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525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dirty="0" smtClean="0"/>
              <a:t>Эксперименты </a:t>
            </a:r>
            <a:r>
              <a:rPr lang="en-US" sz="3000" dirty="0" smtClean="0"/>
              <a:t>(1) </a:t>
            </a:r>
            <a:r>
              <a:rPr lang="ru-RU" sz="3000" dirty="0" smtClean="0"/>
              <a:t>(убиваем </a:t>
            </a:r>
            <a:r>
              <a:rPr lang="en-US" sz="3000" dirty="0" smtClean="0"/>
              <a:t>Primary</a:t>
            </a:r>
            <a:r>
              <a:rPr lang="ru-RU" sz="3000" dirty="0" smtClean="0"/>
              <a:t>)</a:t>
            </a:r>
            <a:endParaRPr sz="30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93924" y="1196181"/>
            <a:ext cx="77792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dirty="0"/>
              <a:t>Наблюдаем за выборами нового лидера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00550" y="928160"/>
            <a:ext cx="19736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docker stop pg-node-1</a:t>
            </a:r>
            <a:endParaRPr lang="ru-RU" i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585787" y="1833373"/>
            <a:ext cx="5940425" cy="13462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00550" y="1463833"/>
            <a:ext cx="67351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watch -n1 "</a:t>
            </a:r>
            <a:r>
              <a:rPr lang="en-US" i="1" dirty="0" err="1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docker</a:t>
            </a:r>
            <a:r>
              <a:rPr lang="en-US" i="1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 exec pg-node-2 </a:t>
            </a:r>
            <a:r>
              <a:rPr lang="en-US" i="1" dirty="0" err="1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patronictl</a:t>
            </a:r>
            <a:r>
              <a:rPr lang="en-US" i="1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 -c /</a:t>
            </a:r>
            <a:r>
              <a:rPr lang="en-US" i="1" dirty="0" err="1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etc</a:t>
            </a:r>
            <a:r>
              <a:rPr lang="en-US" i="1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/</a:t>
            </a:r>
            <a:r>
              <a:rPr lang="en-US" i="1" dirty="0" err="1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patroni</a:t>
            </a:r>
            <a:r>
              <a:rPr lang="en-US" i="1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/</a:t>
            </a:r>
            <a:r>
              <a:rPr lang="en-US" i="1" dirty="0" err="1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patroni.yml</a:t>
            </a:r>
            <a:r>
              <a:rPr lang="en-US" i="1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Courier New" panose="02070309020205020404" pitchFamily="49" charset="0"/>
              </a:rPr>
              <a:t> list"</a:t>
            </a:r>
            <a:endParaRPr lang="ru-RU" i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1" name="Рисунок 10"/>
          <p:cNvPicPr/>
          <p:nvPr/>
        </p:nvPicPr>
        <p:blipFill>
          <a:blip r:embed="rId4"/>
          <a:stretch>
            <a:fillRect/>
          </a:stretch>
        </p:blipFill>
        <p:spPr>
          <a:xfrm>
            <a:off x="585786" y="3407797"/>
            <a:ext cx="5940425" cy="115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7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dirty="0" smtClean="0"/>
              <a:t>Эксперименты (</a:t>
            </a:r>
            <a:r>
              <a:rPr lang="en-US" sz="3000" dirty="0" smtClean="0"/>
              <a:t>2</a:t>
            </a:r>
            <a:r>
              <a:rPr lang="ru-RU" sz="3000" dirty="0" smtClean="0"/>
              <a:t>)</a:t>
            </a:r>
            <a:endParaRPr sz="30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00550" y="2165879"/>
            <a:ext cx="777928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Failover</a:t>
            </a:r>
            <a:r>
              <a:rPr lang="ru-RU" dirty="0"/>
              <a:t> </a:t>
            </a:r>
            <a:r>
              <a:rPr lang="ru-RU" dirty="0" smtClean="0"/>
              <a:t>сработал</a:t>
            </a:r>
            <a:endParaRPr lang="ru-RU" dirty="0"/>
          </a:p>
          <a:p>
            <a:pPr lvl="0"/>
            <a:r>
              <a:rPr lang="en-US" dirty="0"/>
              <a:t>pg-node-1 — Replica, stopped — </a:t>
            </a:r>
            <a:r>
              <a:rPr lang="ru-RU" dirty="0"/>
              <a:t>бывший</a:t>
            </a:r>
            <a:r>
              <a:rPr lang="en-US" dirty="0"/>
              <a:t> Primary </a:t>
            </a:r>
            <a:r>
              <a:rPr lang="ru-RU" dirty="0"/>
              <a:t>упал</a:t>
            </a:r>
          </a:p>
          <a:p>
            <a:pPr lvl="0"/>
            <a:r>
              <a:rPr lang="en-US" dirty="0"/>
              <a:t>pg-node-2 — </a:t>
            </a:r>
            <a:r>
              <a:rPr lang="en-US" b="1" dirty="0"/>
              <a:t>Leader</a:t>
            </a:r>
            <a:r>
              <a:rPr lang="en-US" dirty="0"/>
              <a:t>, running — </a:t>
            </a:r>
            <a:r>
              <a:rPr lang="ru-RU" dirty="0"/>
              <a:t>новый</a:t>
            </a:r>
            <a:r>
              <a:rPr lang="en-US" dirty="0"/>
              <a:t> Primary, TL=2 (Timeline 2 — </a:t>
            </a:r>
            <a:r>
              <a:rPr lang="ru-RU" dirty="0"/>
              <a:t>новая эпоха после</a:t>
            </a:r>
            <a:r>
              <a:rPr lang="en-US" dirty="0"/>
              <a:t> failover)</a:t>
            </a:r>
            <a:endParaRPr lang="ru-RU" dirty="0"/>
          </a:p>
          <a:p>
            <a:pPr lvl="0"/>
            <a:r>
              <a:rPr lang="en-US" dirty="0"/>
              <a:t>pg-node-3 — Replica, streaming, lag=0 — </a:t>
            </a:r>
            <a:r>
              <a:rPr lang="ru-RU" dirty="0"/>
              <a:t>уже реплицирует с нового</a:t>
            </a:r>
            <a:r>
              <a:rPr lang="en-US" dirty="0"/>
              <a:t> Primary</a:t>
            </a:r>
            <a:endParaRPr lang="ru-RU" dirty="0"/>
          </a:p>
        </p:txBody>
      </p:sp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585786" y="942892"/>
            <a:ext cx="5940425" cy="115062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13317" y="3335430"/>
            <a:ext cx="8100595" cy="655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Выборы прошли автоматически. Проверяем что запись идёт через VIP на новый </a:t>
            </a:r>
            <a:r>
              <a:rPr lang="ru-RU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i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psql</a:t>
            </a:r>
            <a:r>
              <a:rPr lang="en-US" i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-h 192.168.20.10 -p 5000 -U </a:t>
            </a:r>
            <a:r>
              <a:rPr lang="en-US" i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postgres</a:t>
            </a:r>
            <a:r>
              <a:rPr lang="en-US" i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-c "SELECT </a:t>
            </a:r>
            <a:r>
              <a:rPr lang="en-US" i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inet_server_addr</a:t>
            </a:r>
            <a:r>
              <a:rPr lang="en-US" i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(), </a:t>
            </a:r>
            <a:r>
              <a:rPr lang="en-US" i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pg_is_in_recovery</a:t>
            </a:r>
            <a:r>
              <a:rPr lang="en-US" i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();"</a:t>
            </a:r>
            <a:endParaRPr lang="ru-RU" i="1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/>
          <p:cNvPicPr/>
          <p:nvPr/>
        </p:nvPicPr>
        <p:blipFill>
          <a:blip r:embed="rId4"/>
          <a:stretch>
            <a:fillRect/>
          </a:stretch>
        </p:blipFill>
        <p:spPr>
          <a:xfrm>
            <a:off x="585786" y="3663404"/>
            <a:ext cx="8063342" cy="85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07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dirty="0" smtClean="0"/>
              <a:t>Эксперименты (</a:t>
            </a:r>
            <a:r>
              <a:rPr lang="en-US" sz="3000" dirty="0" smtClean="0"/>
              <a:t>3</a:t>
            </a:r>
            <a:r>
              <a:rPr lang="ru-RU" sz="3000" dirty="0" smtClean="0"/>
              <a:t>)</a:t>
            </a:r>
            <a:endParaRPr sz="3000" dirty="0"/>
          </a:p>
        </p:txBody>
      </p:sp>
      <p:pic>
        <p:nvPicPr>
          <p:cNvPr id="12" name="Рисунок 11"/>
          <p:cNvPicPr/>
          <p:nvPr/>
        </p:nvPicPr>
        <p:blipFill>
          <a:blip r:embed="rId3"/>
          <a:stretch>
            <a:fillRect/>
          </a:stretch>
        </p:blipFill>
        <p:spPr>
          <a:xfrm>
            <a:off x="572534" y="913578"/>
            <a:ext cx="8063342" cy="856757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00550" y="1900222"/>
            <a:ext cx="7070035" cy="1655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Failover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работает</a:t>
            </a:r>
            <a:r>
              <a:rPr lang="en-US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inet_server_addr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= 172.20.0.12 — 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теперь это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pg-node-2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pg_is_in_recovery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= f — 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он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Primary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Приложение ничего не заметило — VIP остался тем же 192.168.20.10, </a:t>
            </a:r>
            <a:endParaRPr lang="en-US" dirty="0" smtClean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 err="1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HAProxy</a:t>
            </a:r>
            <a:r>
              <a:rPr lang="ru-RU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автоматически переключился на нового </a:t>
            </a:r>
            <a:r>
              <a:rPr lang="ru-RU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ru-RU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69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9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dirty="0" smtClean="0"/>
              <a:t>Эксперименты (</a:t>
            </a:r>
            <a:r>
              <a:rPr lang="en-US" sz="3000" dirty="0" smtClean="0"/>
              <a:t>4</a:t>
            </a:r>
            <a:r>
              <a:rPr lang="ru-RU" sz="3000" dirty="0" smtClean="0"/>
              <a:t>)</a:t>
            </a:r>
            <a:endParaRPr sz="3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00550" y="1900222"/>
            <a:ext cx="8424789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/>
              <a:t>Он автоматически подключится как </a:t>
            </a:r>
            <a:r>
              <a:rPr lang="ru-RU" dirty="0" err="1"/>
              <a:t>Replica</a:t>
            </a:r>
            <a:r>
              <a:rPr lang="ru-RU" dirty="0"/>
              <a:t> и начнёт синхронизацию с новым </a:t>
            </a:r>
            <a:r>
              <a:rPr lang="ru-RU" dirty="0" err="1"/>
              <a:t>Primary</a:t>
            </a:r>
            <a:r>
              <a:rPr lang="ru-RU" dirty="0"/>
              <a:t>.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00550" y="925767"/>
            <a:ext cx="29626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+mj-lt"/>
                <a:ea typeface="Times New Roman" panose="02020603050405020304" pitchFamily="18" charset="0"/>
              </a:rPr>
              <a:t>Возвращаем pg-node-1 в кластер</a:t>
            </a:r>
            <a:endParaRPr lang="ru-RU" dirty="0">
              <a:latin typeface="+mj-lt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607874" y="1255295"/>
            <a:ext cx="5940425" cy="43180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4"/>
          <a:stretch>
            <a:fillRect/>
          </a:stretch>
        </p:blipFill>
        <p:spPr>
          <a:xfrm>
            <a:off x="607874" y="2276019"/>
            <a:ext cx="8216073" cy="144121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607874" y="3717235"/>
            <a:ext cx="673515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Кластер полностью восстановлен: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pg-node-1 — 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вернулся как 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Replica, streaming, lag=0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pg-node-2 — остался </a:t>
            </a:r>
            <a:r>
              <a:rPr lang="ru-RU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Leader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pg-node-3 — Replica, streaming, lag=0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Все три узла на TL=2, </a:t>
            </a:r>
            <a:r>
              <a:rPr lang="ru-RU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lag</a:t>
            </a:r>
            <a:r>
              <a:rPr lang="ru-RU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=0 — кластер полностью синхронизирован.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992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2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dirty="0" smtClean="0"/>
              <a:t>Выводы</a:t>
            </a:r>
            <a:r>
              <a:rPr lang="ru-RU" sz="3400" dirty="0" smtClean="0"/>
              <a:t>, касаемо данного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4090055441"/>
              </p:ext>
            </p:extLst>
          </p:nvPr>
        </p:nvGraphicFramePr>
        <p:xfrm>
          <a:off x="447675" y="1012825"/>
          <a:ext cx="7239000" cy="4059876"/>
        </p:xfrm>
        <a:graphic>
          <a:graphicData uri="http://schemas.openxmlformats.org/drawingml/2006/table">
            <a:tbl>
              <a:tblPr>
                <a:noFill/>
                <a:tableStyleId>{8045678D-C4F9-4EE2-A1E8-EFC6F24DDD67}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 smtClean="0"/>
                        <a:t>Роль </a:t>
                      </a:r>
                      <a:r>
                        <a:rPr lang="ru-RU" sz="1600" b="1" dirty="0" err="1" smtClean="0"/>
                        <a:t>Keepalived</a:t>
                      </a:r>
                      <a:r>
                        <a:rPr lang="ru-RU" sz="1600" b="1" dirty="0" smtClean="0"/>
                        <a:t> конкретно здесь</a:t>
                      </a:r>
                      <a:r>
                        <a:rPr lang="ru-RU" sz="1600" dirty="0" smtClean="0"/>
                        <a:t> — только одна: гарантировать что 192.168.1.100 всегда доступен, даже если один из </a:t>
                      </a:r>
                      <a:r>
                        <a:rPr lang="ru-RU" sz="1600" dirty="0" err="1" smtClean="0"/>
                        <a:t>HAProxy</a:t>
                      </a:r>
                      <a:r>
                        <a:rPr lang="ru-RU" sz="1600" dirty="0" smtClean="0"/>
                        <a:t>-контейнеров (или хост с ним) упадёт. </a:t>
                      </a:r>
                      <a:endParaRPr lang="en-US" sz="1600" dirty="0" smtClean="0"/>
                    </a:p>
                    <a:p>
                      <a:r>
                        <a:rPr lang="ru-RU" sz="1600" dirty="0" smtClean="0"/>
                        <a:t>Сам по себе порт 5000 </a:t>
                      </a:r>
                      <a:r>
                        <a:rPr lang="ru-RU" sz="1600" dirty="0" err="1" smtClean="0"/>
                        <a:t>Keepalived</a:t>
                      </a:r>
                      <a:r>
                        <a:rPr lang="ru-RU" sz="1600" dirty="0" smtClean="0"/>
                        <a:t> не трогает — он про IP, не про порты.</a:t>
                      </a:r>
                    </a:p>
                    <a:p>
                      <a:r>
                        <a:rPr lang="ru-RU" sz="1600" dirty="0" err="1" smtClean="0"/>
                        <a:t>HAProxy</a:t>
                      </a:r>
                      <a:r>
                        <a:rPr lang="ru-RU" sz="1600" dirty="0" smtClean="0"/>
                        <a:t> запущены на </a:t>
                      </a:r>
                      <a:r>
                        <a:rPr lang="ru-RU" sz="1600" i="1" dirty="0" smtClean="0"/>
                        <a:t>одном</a:t>
                      </a:r>
                      <a:r>
                        <a:rPr lang="ru-RU" sz="1600" dirty="0" smtClean="0"/>
                        <a:t> хосте, поэтому haproxy-1 слушает порт 5000, а haproxy-2 — порт 5002 (чтобы не конфликтовать). </a:t>
                      </a:r>
                      <a:r>
                        <a:rPr lang="ru-RU" sz="1600" dirty="0" err="1" smtClean="0"/>
                        <a:t>Keepalived</a:t>
                      </a:r>
                      <a:r>
                        <a:rPr lang="ru-RU" sz="1600" dirty="0" smtClean="0"/>
                        <a:t> в этом случае выглядит немного искусственно — он переключает VIP между двумя контейнерами на одной машине, что не даёт реальной защиты от падения самого хоста. </a:t>
                      </a:r>
                    </a:p>
                    <a:p>
                      <a:r>
                        <a:rPr lang="ru-RU" sz="1600" dirty="0" smtClean="0"/>
                        <a:t>В настоящем </a:t>
                      </a:r>
                      <a:r>
                        <a:rPr lang="ru-RU" sz="1600" dirty="0" err="1" smtClean="0"/>
                        <a:t>продакшне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HAProxy</a:t>
                      </a:r>
                      <a:r>
                        <a:rPr lang="ru-RU" sz="1600" dirty="0" smtClean="0"/>
                        <a:t> и </a:t>
                      </a:r>
                      <a:r>
                        <a:rPr lang="ru-RU" sz="1600" dirty="0" err="1" smtClean="0"/>
                        <a:t>Keepalived</a:t>
                      </a:r>
                      <a:r>
                        <a:rPr lang="ru-RU" sz="1600" dirty="0" smtClean="0"/>
                        <a:t> ставятся на </a:t>
                      </a:r>
                      <a:r>
                        <a:rPr lang="ru-RU" sz="1600" b="1" dirty="0" smtClean="0"/>
                        <a:t>два разных физических сервера</a:t>
                      </a:r>
                      <a:r>
                        <a:rPr lang="ru-RU" sz="1600" dirty="0" smtClean="0"/>
                        <a:t>, и тогда </a:t>
                      </a:r>
                      <a:r>
                        <a:rPr lang="ru-RU" sz="1600" dirty="0" err="1" smtClean="0"/>
                        <a:t>Keepalived</a:t>
                      </a:r>
                      <a:r>
                        <a:rPr lang="ru-RU" sz="1600" dirty="0" smtClean="0"/>
                        <a:t> реально спасает — если первый сервер целиком умирает, VIP переезжает на второй.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488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2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dirty="0" smtClean="0"/>
              <a:t>Выводы</a:t>
            </a:r>
            <a:r>
              <a:rPr lang="ru-RU" sz="3400" dirty="0" smtClean="0"/>
              <a:t>, касаемо данного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2451834819"/>
              </p:ext>
            </p:extLst>
          </p:nvPr>
        </p:nvGraphicFramePr>
        <p:xfrm>
          <a:off x="447675" y="901701"/>
          <a:ext cx="489425" cy="3566100"/>
        </p:xfrm>
        <a:graphic>
          <a:graphicData uri="http://schemas.openxmlformats.org/drawingml/2006/table">
            <a:tbl>
              <a:tblPr>
                <a:noFill/>
                <a:tableStyleId>{8045678D-C4F9-4EE2-A1E8-EFC6F24DDD67}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811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8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2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6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937100" y="930632"/>
            <a:ext cx="6816725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Keepalived</a:t>
            </a:r>
            <a:r>
              <a:rPr lang="ru-RU" dirty="0"/>
              <a:t> имеет смысл только когда есть </a:t>
            </a:r>
            <a:r>
              <a:rPr lang="ru-RU" b="1" dirty="0"/>
              <a:t>два физически разных сервера</a:t>
            </a:r>
            <a:r>
              <a:rPr lang="ru-RU" dirty="0"/>
              <a:t>. Его задача — следить за соседом по сети через VRRP-пакеты, и если сосед замолчал — забрать VIP себе.</a:t>
            </a:r>
          </a:p>
          <a:p>
            <a:r>
              <a:rPr lang="ru-RU" dirty="0"/>
              <a:t>Когда оба контейнера на одном хосте:</a:t>
            </a:r>
          </a:p>
          <a:p>
            <a:r>
              <a:rPr lang="ru-RU" dirty="0"/>
              <a:t>Если хост падает — падают </a:t>
            </a:r>
            <a:r>
              <a:rPr lang="ru-RU" b="1" dirty="0"/>
              <a:t>оба</a:t>
            </a:r>
            <a:r>
              <a:rPr lang="ru-RU" dirty="0"/>
              <a:t> </a:t>
            </a:r>
            <a:r>
              <a:rPr lang="ru-RU" dirty="0" err="1"/>
              <a:t>Keepalived</a:t>
            </a:r>
            <a:r>
              <a:rPr lang="ru-RU" dirty="0"/>
              <a:t> одновременно, VIP некому подхватывать.</a:t>
            </a:r>
          </a:p>
          <a:p>
            <a:r>
              <a:rPr lang="ru-RU" dirty="0"/>
              <a:t>Если хост жив — оба контейнера тоже живы, второй просто висит без дела</a:t>
            </a:r>
          </a:p>
          <a:p>
            <a:r>
              <a:rPr lang="ru-RU" dirty="0"/>
              <a:t>То есть схема с двумя </a:t>
            </a:r>
            <a:r>
              <a:rPr lang="ru-RU" dirty="0" err="1"/>
              <a:t>Keepalived</a:t>
            </a:r>
            <a:r>
              <a:rPr lang="ru-RU" dirty="0"/>
              <a:t> защищает только от одного сценария: </a:t>
            </a:r>
            <a:r>
              <a:rPr lang="ru-RU" b="1" dirty="0"/>
              <a:t>падения самого процесса </a:t>
            </a:r>
            <a:r>
              <a:rPr lang="ru-RU" b="1" dirty="0" err="1"/>
              <a:t>HAProxy</a:t>
            </a:r>
            <a:r>
              <a:rPr lang="ru-RU" dirty="0"/>
              <a:t> (не хоста). </a:t>
            </a:r>
            <a:r>
              <a:rPr lang="ru-RU" dirty="0" err="1"/>
              <a:t>Keepalived</a:t>
            </a:r>
            <a:r>
              <a:rPr lang="ru-RU" dirty="0"/>
              <a:t> заметит что haproxy-1 не отвечает на check_haproxy.sh, снизит свой </a:t>
            </a:r>
            <a:r>
              <a:rPr lang="ru-RU" dirty="0" err="1"/>
              <a:t>priority</a:t>
            </a:r>
            <a:r>
              <a:rPr lang="ru-RU" dirty="0"/>
              <a:t>, и </a:t>
            </a:r>
            <a:r>
              <a:rPr lang="ru-RU" dirty="0" err="1"/>
              <a:t>keepalived-backup</a:t>
            </a:r>
            <a:r>
              <a:rPr lang="ru-RU" dirty="0"/>
              <a:t> заберёт VIP — переключив трафик на haproxy-2. </a:t>
            </a:r>
          </a:p>
          <a:p>
            <a:r>
              <a:rPr lang="ru-RU" dirty="0"/>
              <a:t>Польза, но довольно узкая.</a:t>
            </a:r>
          </a:p>
          <a:p>
            <a:endParaRPr lang="ru-RU" dirty="0"/>
          </a:p>
          <a:p>
            <a:r>
              <a:rPr lang="ru-RU" b="1" dirty="0"/>
              <a:t>Один </a:t>
            </a:r>
            <a:r>
              <a:rPr lang="ru-RU" b="1" dirty="0" err="1"/>
              <a:t>Keepalived</a:t>
            </a:r>
            <a:r>
              <a:rPr lang="ru-RU" dirty="0"/>
              <a:t> — держит VIP, защищает от ничего (хост падает = всё падает)</a:t>
            </a:r>
          </a:p>
          <a:p>
            <a:r>
              <a:rPr lang="ru-RU" b="1" dirty="0"/>
              <a:t>Два </a:t>
            </a:r>
            <a:r>
              <a:rPr lang="ru-RU" b="1" dirty="0" err="1"/>
              <a:t>Keepalived</a:t>
            </a:r>
            <a:r>
              <a:rPr lang="ru-RU" dirty="0"/>
              <a:t> — защищают только от падения процесса haproxy-1, VIP переедет на haproxy-2</a:t>
            </a:r>
          </a:p>
          <a:p>
            <a:r>
              <a:rPr lang="ru-RU" b="1" dirty="0"/>
              <a:t>Реальная защита</a:t>
            </a:r>
            <a:r>
              <a:rPr lang="ru-RU" dirty="0"/>
              <a:t> — только когда </a:t>
            </a:r>
            <a:r>
              <a:rPr lang="ru-RU" dirty="0" err="1"/>
              <a:t>HAProxy</a:t>
            </a:r>
            <a:r>
              <a:rPr lang="ru-RU" dirty="0"/>
              <a:t> и </a:t>
            </a:r>
            <a:r>
              <a:rPr lang="ru-RU" dirty="0" err="1"/>
              <a:t>Keepalived</a:t>
            </a:r>
            <a:r>
              <a:rPr lang="ru-RU" dirty="0"/>
              <a:t> разнесены на два физических сервера</a:t>
            </a:r>
            <a:endParaRPr lang="ru-RU" sz="1600" dirty="0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042439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82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dirty="0" smtClean="0"/>
              <a:t>Выводы</a:t>
            </a:r>
            <a:r>
              <a:rPr lang="ru-RU" sz="3400" dirty="0" smtClean="0"/>
              <a:t>, касаемо данного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4078849014"/>
              </p:ext>
            </p:extLst>
          </p:nvPr>
        </p:nvGraphicFramePr>
        <p:xfrm>
          <a:off x="447675" y="1012825"/>
          <a:ext cx="7239000" cy="3389316"/>
        </p:xfrm>
        <a:graphic>
          <a:graphicData uri="http://schemas.openxmlformats.org/drawingml/2006/table">
            <a:tbl>
              <a:tblPr>
                <a:noFill/>
                <a:tableStyleId>{8045678D-C4F9-4EE2-A1E8-EFC6F24DDD67}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8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2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Приложение подключается к адресу (</a:t>
                      </a:r>
                      <a:r>
                        <a:rPr lang="en-US" b="1" dirty="0" smtClean="0"/>
                        <a:t>VIP</a:t>
                      </a:r>
                      <a:r>
                        <a:rPr lang="ru-RU" b="1" dirty="0" smtClean="0"/>
                        <a:t>), а не к серверу</a:t>
                      </a:r>
                      <a:r>
                        <a:rPr lang="ru-RU" dirty="0" smtClean="0"/>
                        <a:t>. </a:t>
                      </a:r>
                    </a:p>
                    <a:p>
                      <a:r>
                        <a:rPr lang="ru-RU" dirty="0" smtClean="0"/>
                        <a:t>Серверы могут меняться — адрес остаётся.</a:t>
                      </a:r>
                    </a:p>
                    <a:p>
                      <a:endParaRPr lang="ru-RU" dirty="0" smtClean="0"/>
                    </a:p>
                    <a:p>
                      <a:r>
                        <a:rPr lang="ru-RU" dirty="0" smtClean="0"/>
                        <a:t>Чтобы все поднималось через </a:t>
                      </a:r>
                      <a:r>
                        <a:rPr lang="en-US" dirty="0" err="1" smtClean="0"/>
                        <a:t>docker</a:t>
                      </a:r>
                      <a:r>
                        <a:rPr lang="en-US" dirty="0" smtClean="0"/>
                        <a:t> compose </a:t>
                      </a:r>
                      <a:r>
                        <a:rPr lang="ru-RU" dirty="0" smtClean="0"/>
                        <a:t>используем </a:t>
                      </a:r>
                      <a:r>
                        <a:rPr lang="en-US" dirty="0" err="1" smtClean="0"/>
                        <a:t>healtcheck</a:t>
                      </a:r>
                      <a:endParaRPr lang="en-US" dirty="0" smtClean="0"/>
                    </a:p>
                    <a:p>
                      <a:endParaRPr lang="en-US" sz="1400" b="0" dirty="0" smtClean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2091836"/>
            <a:ext cx="8305800" cy="111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1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1202</Words>
  <Application>Microsoft Office PowerPoint</Application>
  <PresentationFormat>Экран (16:9)</PresentationFormat>
  <Paragraphs>187</Paragraphs>
  <Slides>29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29</vt:i4>
      </vt:variant>
    </vt:vector>
  </HeadingPairs>
  <TitlesOfParts>
    <vt:vector size="39" baseType="lpstr">
      <vt:lpstr>Roboto</vt:lpstr>
      <vt:lpstr>Roboto Medium</vt:lpstr>
      <vt:lpstr>Arial</vt:lpstr>
      <vt:lpstr>Courier New</vt:lpstr>
      <vt:lpstr>Times New Roman</vt:lpstr>
      <vt:lpstr>Symbol</vt:lpstr>
      <vt:lpstr>Calibri</vt:lpstr>
      <vt:lpstr>Светлая тема</vt:lpstr>
      <vt:lpstr>Светлая тема</vt:lpstr>
      <vt:lpstr>Светлая тема</vt:lpstr>
      <vt:lpstr>Презентация PowerPoint</vt:lpstr>
      <vt:lpstr>Меня хорошо слышно?</vt:lpstr>
      <vt:lpstr>План защиты</vt:lpstr>
      <vt:lpstr>Презентация PowerPoint</vt:lpstr>
      <vt:lpstr>Какие технологии использовались </vt:lpstr>
      <vt:lpstr>Что получилось</vt:lpstr>
      <vt:lpstr>Порядок запуска </vt:lpstr>
      <vt:lpstr>Etcd (1) (ошибка образа)</vt:lpstr>
      <vt:lpstr>Etcd (2)</vt:lpstr>
      <vt:lpstr>PG-node-1 (1) (ошибка прав)</vt:lpstr>
      <vt:lpstr>PG-node-1 (2) (ошибка прав)</vt:lpstr>
      <vt:lpstr>PG-node-1 (3)</vt:lpstr>
      <vt:lpstr>PG-node-2 PG-node-3 (1)</vt:lpstr>
      <vt:lpstr>HAProxy (1)</vt:lpstr>
      <vt:lpstr>HAProxy (2)</vt:lpstr>
      <vt:lpstr>Keepalived (1) (ошибка запуска) </vt:lpstr>
      <vt:lpstr>Keepalived (2) (ошибка запуска) </vt:lpstr>
      <vt:lpstr>Keepalived (3)</vt:lpstr>
      <vt:lpstr>Keepalived (4)</vt:lpstr>
      <vt:lpstr>Эксперименты (1) (убиваем Primary)</vt:lpstr>
      <vt:lpstr>Эксперименты (2)</vt:lpstr>
      <vt:lpstr>Эксперименты (3)</vt:lpstr>
      <vt:lpstr>Эксперименты (4)</vt:lpstr>
      <vt:lpstr>Выводы, касаемо данного проекта </vt:lpstr>
      <vt:lpstr>Выводы, касаемо данного проекта </vt:lpstr>
      <vt:lpstr>Выводы, касаемо данного проекта 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romany4</cp:lastModifiedBy>
  <cp:revision>29</cp:revision>
  <dcterms:modified xsi:type="dcterms:W3CDTF">2026-03-10T15:28:23Z</dcterms:modified>
</cp:coreProperties>
</file>